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EB5A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 varScale="1">
        <p:scale>
          <a:sx n="102" d="100"/>
          <a:sy n="102" d="100"/>
        </p:scale>
        <p:origin x="192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A6CFFA-9CB2-483D-0CF3-EC17103013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B68A01-C6D3-7DDA-197F-08B7FD522C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6CE20C-3752-A385-E7B8-C88809323E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61D0E-13B9-4140-BEC5-3C5E6B49CAE6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25070E-BD05-8AA4-C452-8FCBC0968E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AC60D2-351B-0A4C-5295-0023A5B1C8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D0CEB-A592-9C49-AF76-E48CA8512A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91516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B0ED5-34B5-6F98-4AC0-D983D225CC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E92C58-E596-8510-D479-1B9FE4A972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440FD3-5A70-A7FE-B24D-5C7D001DCF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61D0E-13B9-4140-BEC5-3C5E6B49CAE6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8558C5-CBFD-B826-320E-F973910E0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A1EF8A-C692-4419-BD74-2ED6911A6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D0CEB-A592-9C49-AF76-E48CA8512A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5518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7ED00-17F0-826F-764D-3780FF88B0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B1D00B-1B02-4129-C890-15661825EE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7B0491-2DA2-6767-A813-7BEE6BEC35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61D0E-13B9-4140-BEC5-3C5E6B49CAE6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D1D364-4F82-F88D-F428-72128553B7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7828CE-B44A-770D-8C92-D8168388D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D0CEB-A592-9C49-AF76-E48CA8512A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4238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760643-77E7-2829-EFA1-CCBCDA4AD2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FF9E46-A69A-F69A-80FC-9808D80A63E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66D196-C3CC-E516-8DB1-40AA4C91FE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A2E7840-A9FC-245F-4FA8-78BE1B8A5A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61D0E-13B9-4140-BEC5-3C5E6B49CAE6}" type="datetimeFigureOut">
              <a:rPr lang="en-US" smtClean="0"/>
              <a:t>4/26/26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21FEA8-D74B-1252-E1CE-7220F8C423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5E728F-A829-F760-2A2F-003E00968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D0CEB-A592-9C49-AF76-E48CA8512A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87262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5B5CC-81AD-BDE2-6AAA-AF62A00531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FB1E5E-CD8A-06EF-3E53-4F19053BE7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6442B9-A6DD-6A5D-20B0-601EDC6A75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9B7084-B9D4-44A5-C776-9E042A21B1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1E873AC-6BF5-30B5-E700-63823AA6309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73F58D2-17F6-AA12-FF3D-DCD91A7A3F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61D0E-13B9-4140-BEC5-3C5E6B49CAE6}" type="datetimeFigureOut">
              <a:rPr lang="en-US" smtClean="0"/>
              <a:t>4/26/26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7CA5BB0-F7E5-E653-A555-0030C502B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BC51CBD-25E5-6E54-537E-26DD202B2B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D0CEB-A592-9C49-AF76-E48CA8512A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33470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18330-28C8-A36B-FB97-9447AF6BDE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B4D2C16-504C-FAEE-D0DF-BE0A5285A3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61D0E-13B9-4140-BEC5-3C5E6B49CAE6}" type="datetimeFigureOut">
              <a:rPr lang="en-US" smtClean="0"/>
              <a:t>4/26/26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DB11E97-E5D3-639E-E061-B61E6B6F6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A25678-3904-822C-6FA3-D9588E8A91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D0CEB-A592-9C49-AF76-E48CA8512A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45570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99EF71-A868-3DAB-DEA6-6F673323C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61D0E-13B9-4140-BEC5-3C5E6B49CAE6}" type="datetimeFigureOut">
              <a:rPr lang="en-US" smtClean="0"/>
              <a:t>4/26/26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B049A4-0916-F33B-E4B5-6459E46A90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A7DBC7-129B-731A-8ABB-EB5FE4596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D0CEB-A592-9C49-AF76-E48CA8512A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1591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D69E56-DB93-78CE-6E0F-28A589584E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7C240A-2170-7760-E8A5-B634E519E0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066F93-9556-3F47-675C-F2CBCFF755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B9977D-D16D-9760-0A94-3B6456F193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61D0E-13B9-4140-BEC5-3C5E6B49CAE6}" type="datetimeFigureOut">
              <a:rPr lang="en-US" smtClean="0"/>
              <a:t>4/26/26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FF3FE-11B8-ECF0-86F8-9FB3C0FB1B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454228-4D1C-4D70-E639-D6AD7489F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D0CEB-A592-9C49-AF76-E48CA8512A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7082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78832E-BB92-00D5-8057-8C3D63F6CA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F7F9623-FE71-F6E0-50D5-C565A643E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2C25CA-7BC9-621E-638B-CD8BC26792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B5A308-65A7-6161-34CE-48883CE960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61D0E-13B9-4140-BEC5-3C5E6B49CAE6}" type="datetimeFigureOut">
              <a:rPr lang="en-US" smtClean="0"/>
              <a:t>4/26/26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BC5C23-585D-0E40-5BAA-82DFC428A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4080A1-6B72-5311-E394-AB046F8C3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D0CEB-A592-9C49-AF76-E48CA8512A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3195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B59DE-CC90-484E-CF40-8CDB501E0F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E52174-2027-2876-0EBB-CC71620F74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63B6F3-F5A9-5260-50E4-EF7E667042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61D0E-13B9-4140-BEC5-3C5E6B49CAE6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CE70ED-F05E-9FD2-51F0-CDCB456F3B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F6D155-39F4-B2E9-F9C3-B843D5B26D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D0CEB-A592-9C49-AF76-E48CA8512A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81906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F37B8C-1669-7D48-ADFC-AE467C2197E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E7BB5A-98C3-7CC3-1874-A1B073169E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ACDBC6-19B1-9016-1CDA-5DC5070D71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61D0E-13B9-4140-BEC5-3C5E6B49CAE6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07FBC3-2EED-20F0-6E39-28691DFBA8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9690BF-511E-4A0F-7808-B6A77662C1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BD0CEB-A592-9C49-AF76-E48CA8512A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0088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0D244C0-C8F1-E375-C722-75AED4028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D66A19-DBC8-7C38-81C2-F1A12B5268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4A0C6F-CF7E-69F2-67F3-7653C15C54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C61D0E-13B9-4140-BEC5-3C5E6B49CAE6}" type="datetimeFigureOut">
              <a:rPr lang="en-US" smtClean="0"/>
              <a:t>4/26/26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1102EA-EB90-56CE-7904-B2FA106FA5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818B68-B56B-193B-C195-C7BF98C3CC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BD0CEB-A592-9C49-AF76-E48CA8512A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35113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CD4AB543-6EC9-697F-7232-E9136AB5F89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-2" y="-1823"/>
            <a:ext cx="12188762" cy="68598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55B68D9-DFCE-6794-55D8-4AA2D7AAF1D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2216" y="1277956"/>
            <a:ext cx="10664328" cy="1765453"/>
          </a:xfrm>
        </p:spPr>
        <p:txBody>
          <a:bodyPr>
            <a:normAutofit fontScale="90000"/>
          </a:bodyPr>
          <a:lstStyle/>
          <a:p>
            <a:r>
              <a:rPr lang="en-US" sz="8800" b="1" dirty="0">
                <a:latin typeface="Arial" panose="020B0604020202020204" pitchFamily="34" charset="0"/>
                <a:cs typeface="Arial" panose="020B0604020202020204" pitchFamily="34" charset="0"/>
              </a:rPr>
              <a:t>PawPal+ AI Assistant</a:t>
            </a:r>
            <a:br>
              <a:rPr lang="en-US" sz="8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3200" i="1" dirty="0">
                <a:latin typeface="Arial" panose="020B0604020202020204" pitchFamily="34" charset="0"/>
                <a:cs typeface="Arial" panose="020B0604020202020204" pitchFamily="34" charset="0"/>
              </a:rPr>
              <a:t>Extending A Pet Care Scheduler into an AI-Powered System</a:t>
            </a:r>
            <a:endParaRPr lang="en-US" sz="1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7D41BC-7D1E-DB15-8FD6-49865E8E1D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2216" y="4034613"/>
            <a:ext cx="10664327" cy="2161755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Presented by:</a:t>
            </a:r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 Jimmy Dani</a:t>
            </a:r>
          </a:p>
          <a:p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Instructor: </a:t>
            </a:r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Margaret Fero (CodePath)</a:t>
            </a:r>
          </a:p>
          <a:p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Course: AI110 – Foundations of AI Engineering</a:t>
            </a:r>
          </a:p>
          <a:p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Applied AI Systems (Final Project)</a:t>
            </a:r>
          </a:p>
        </p:txBody>
      </p:sp>
    </p:spTree>
    <p:extLst>
      <p:ext uri="{BB962C8B-B14F-4D97-AF65-F5344CB8AC3E}">
        <p14:creationId xmlns:p14="http://schemas.microsoft.com/office/powerpoint/2010/main" val="18318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D6E2A0-134B-9013-96DE-1585F2B58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PawPal+ Scheduler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37BF93-70B9-AD3B-97E1-495D387217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07832"/>
            <a:ext cx="10515600" cy="4879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The base project was a traditional pet-care task manager.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40874F-9F29-12D5-9928-885E0F35D195}"/>
              </a:ext>
            </a:extLst>
          </p:cNvPr>
          <p:cNvSpPr txBox="1"/>
          <p:nvPr/>
        </p:nvSpPr>
        <p:spPr>
          <a:xfrm>
            <a:off x="838201" y="2016087"/>
            <a:ext cx="45490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Original scope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B02FD5F-1DFF-4FBF-ED9E-E98336A85C95}"/>
              </a:ext>
            </a:extLst>
          </p:cNvPr>
          <p:cNvSpPr/>
          <p:nvPr/>
        </p:nvSpPr>
        <p:spPr>
          <a:xfrm>
            <a:off x="838200" y="2477751"/>
            <a:ext cx="4549048" cy="1164123"/>
          </a:xfrm>
          <a:prstGeom prst="round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tx1"/>
                </a:solidFill>
              </a:rPr>
              <a:t>Multi-pet care schedule</a:t>
            </a:r>
          </a:p>
          <a:p>
            <a:r>
              <a:rPr lang="en-US" dirty="0">
                <a:solidFill>
                  <a:schemeClr val="tx1"/>
                </a:solidFill>
              </a:rPr>
              <a:t>Owner, Pet, Task, and Scheduler classes managed data and behavior.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12DA7D6D-47C4-2628-9F7C-5B61AE77BF25}"/>
              </a:ext>
            </a:extLst>
          </p:cNvPr>
          <p:cNvSpPr/>
          <p:nvPr/>
        </p:nvSpPr>
        <p:spPr>
          <a:xfrm>
            <a:off x="838200" y="3774587"/>
            <a:ext cx="4549048" cy="1164123"/>
          </a:xfrm>
          <a:prstGeom prst="round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tx1"/>
                </a:solidFill>
              </a:rPr>
              <a:t>Smart scheduling basics</a:t>
            </a:r>
          </a:p>
          <a:p>
            <a:r>
              <a:rPr lang="en-US" dirty="0">
                <a:solidFill>
                  <a:schemeClr val="tx1"/>
                </a:solidFill>
              </a:rPr>
              <a:t>Sort by time/priority, filter by pet/status, detect conflicts, regenerate recurring tasks.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AC46B2D7-C348-B053-3334-60F80E0858D6}"/>
              </a:ext>
            </a:extLst>
          </p:cNvPr>
          <p:cNvSpPr/>
          <p:nvPr/>
        </p:nvSpPr>
        <p:spPr>
          <a:xfrm>
            <a:off x="838200" y="5071423"/>
            <a:ext cx="4549048" cy="1164123"/>
          </a:xfrm>
          <a:prstGeom prst="round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tx1"/>
                </a:solidFill>
              </a:rPr>
              <a:t>Streamlit + CLI</a:t>
            </a:r>
          </a:p>
          <a:p>
            <a:r>
              <a:rPr lang="en-US" dirty="0">
                <a:solidFill>
                  <a:schemeClr val="tx1"/>
                </a:solidFill>
              </a:rPr>
              <a:t>Users could manage pets/tasks in the UI or run a command-line demo.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8989337-BE02-2A17-9210-289271F62E0F}"/>
              </a:ext>
            </a:extLst>
          </p:cNvPr>
          <p:cNvSpPr txBox="1"/>
          <p:nvPr/>
        </p:nvSpPr>
        <p:spPr>
          <a:xfrm>
            <a:off x="6804754" y="2016087"/>
            <a:ext cx="45490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Final-project extension goal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9D614AE6-ECCF-E246-7615-16B58A2EC736}"/>
              </a:ext>
            </a:extLst>
          </p:cNvPr>
          <p:cNvSpPr/>
          <p:nvPr/>
        </p:nvSpPr>
        <p:spPr>
          <a:xfrm>
            <a:off x="6804753" y="2477752"/>
            <a:ext cx="4549048" cy="1164122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>
                <a:solidFill>
                  <a:schemeClr val="tx1"/>
                </a:solidFill>
              </a:rPr>
              <a:t>Move from “organize my tasks” to “understand my request, retrieve context, use tools, and respond safely.”</a:t>
            </a:r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4087B0C-15AB-2AAD-DEB3-AF72B4A80B9B}"/>
              </a:ext>
            </a:extLst>
          </p:cNvPr>
          <p:cNvSpPr/>
          <p:nvPr/>
        </p:nvSpPr>
        <p:spPr>
          <a:xfrm>
            <a:off x="6804753" y="3774588"/>
            <a:ext cx="4549048" cy="1164122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tx1"/>
                </a:solidFill>
              </a:rPr>
              <a:t>Before</a:t>
            </a:r>
          </a:p>
          <a:p>
            <a:r>
              <a:rPr lang="en-US" dirty="0">
                <a:solidFill>
                  <a:schemeClr val="tx1"/>
                </a:solidFill>
              </a:rPr>
              <a:t>Manual scheduler with deterministic algorithms.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2CB7137F-3D67-B157-5EBE-4F17C1E1B869}"/>
              </a:ext>
            </a:extLst>
          </p:cNvPr>
          <p:cNvSpPr/>
          <p:nvPr/>
        </p:nvSpPr>
        <p:spPr>
          <a:xfrm>
            <a:off x="6804753" y="5071424"/>
            <a:ext cx="4549048" cy="1164122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tx1"/>
                </a:solidFill>
              </a:rPr>
              <a:t>After</a:t>
            </a:r>
          </a:p>
          <a:p>
            <a:r>
              <a:rPr lang="en-US" dirty="0">
                <a:solidFill>
                  <a:schemeClr val="tx1"/>
                </a:solidFill>
              </a:rPr>
              <a:t>AI assistant with retrieval, agent actions, guardrails, and evaluation.</a:t>
            </a:r>
          </a:p>
        </p:txBody>
      </p:sp>
      <p:sp>
        <p:nvSpPr>
          <p:cNvPr id="18" name="Right Arrow 17">
            <a:extLst>
              <a:ext uri="{FF2B5EF4-FFF2-40B4-BE49-F238E27FC236}">
                <a16:creationId xmlns:a16="http://schemas.microsoft.com/office/drawing/2014/main" id="{D334042A-754F-1CE4-6887-380A9D92DDAD}"/>
              </a:ext>
            </a:extLst>
          </p:cNvPr>
          <p:cNvSpPr/>
          <p:nvPr/>
        </p:nvSpPr>
        <p:spPr>
          <a:xfrm>
            <a:off x="5743461" y="4103260"/>
            <a:ext cx="705079" cy="506776"/>
          </a:xfrm>
          <a:prstGeom prst="rightArrow">
            <a:avLst>
              <a:gd name="adj1" fmla="val 50000"/>
              <a:gd name="adj2" fmla="val 76087"/>
            </a:avLst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4928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99662-D087-6EF7-9777-47573857F1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 Added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3BC180-0385-D2B6-6DBB-517771652922}"/>
              </a:ext>
            </a:extLst>
          </p:cNvPr>
          <p:cNvSpPr txBox="1"/>
          <p:nvPr/>
        </p:nvSpPr>
        <p:spPr>
          <a:xfrm>
            <a:off x="838200" y="1432194"/>
            <a:ext cx="1097188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The extension adds AI behavior that changes the working system, not just a standalone demo.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ABA280C-D854-142A-AE02-21DE4B6E8447}"/>
              </a:ext>
            </a:extLst>
          </p:cNvPr>
          <p:cNvSpPr/>
          <p:nvPr/>
        </p:nvSpPr>
        <p:spPr>
          <a:xfrm>
            <a:off x="177181" y="2397479"/>
            <a:ext cx="3700749" cy="1557575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tx1"/>
                </a:solidFill>
              </a:rPr>
              <a:t>RAG retrieval</a:t>
            </a:r>
          </a:p>
          <a:p>
            <a:r>
              <a:rPr lang="en-US" dirty="0">
                <a:solidFill>
                  <a:schemeClr val="tx1"/>
                </a:solidFill>
              </a:rPr>
              <a:t>TF-IDF local retrieval and optional Gemini embeddings search over curated pet-care knowledge + live scheduling context.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C77DA792-6CD0-5F6F-192D-5EBAF530CF3A}"/>
              </a:ext>
            </a:extLst>
          </p:cNvPr>
          <p:cNvSpPr/>
          <p:nvPr/>
        </p:nvSpPr>
        <p:spPr>
          <a:xfrm>
            <a:off x="4268111" y="2397478"/>
            <a:ext cx="3700749" cy="155757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tx1"/>
                </a:solidFill>
              </a:rPr>
              <a:t>Agentic workflow</a:t>
            </a:r>
          </a:p>
          <a:p>
            <a:r>
              <a:rPr lang="en-US" dirty="0">
                <a:solidFill>
                  <a:schemeClr val="tx1"/>
                </a:solidFill>
              </a:rPr>
              <a:t>A </a:t>
            </a:r>
            <a:r>
              <a:rPr lang="en-US" dirty="0" err="1">
                <a:solidFill>
                  <a:schemeClr val="tx1"/>
                </a:solidFill>
              </a:rPr>
              <a:t>ReAct</a:t>
            </a:r>
            <a:r>
              <a:rPr lang="en-US" dirty="0">
                <a:solidFill>
                  <a:schemeClr val="tx1"/>
                </a:solidFill>
              </a:rPr>
              <a:t>-style agent shows observable thought/action steps and can call scheduler tools.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494196D-9065-90C6-3037-8A5D30578777}"/>
              </a:ext>
            </a:extLst>
          </p:cNvPr>
          <p:cNvSpPr/>
          <p:nvPr/>
        </p:nvSpPr>
        <p:spPr>
          <a:xfrm>
            <a:off x="8359041" y="2397478"/>
            <a:ext cx="3700749" cy="1557575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tx1"/>
                </a:solidFill>
              </a:rPr>
              <a:t>Flexible models</a:t>
            </a:r>
          </a:p>
          <a:p>
            <a:r>
              <a:rPr lang="en-US" dirty="0">
                <a:solidFill>
                  <a:schemeClr val="tx1"/>
                </a:solidFill>
              </a:rPr>
              <a:t>Users can choose deterministic local behavior, Gemini, or Ollama local models.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1F538945-70D2-5404-2043-0419E8AB570F}"/>
              </a:ext>
            </a:extLst>
          </p:cNvPr>
          <p:cNvSpPr/>
          <p:nvPr/>
        </p:nvSpPr>
        <p:spPr>
          <a:xfrm>
            <a:off x="2027555" y="4477830"/>
            <a:ext cx="3700749" cy="1557575"/>
          </a:xfrm>
          <a:prstGeom prst="roundRect">
            <a:avLst/>
          </a:prstGeom>
          <a:solidFill>
            <a:srgbClr val="EEB5AE"/>
          </a:solidFill>
          <a:ln>
            <a:solidFill>
              <a:srgbClr val="EEB5A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tx1"/>
                </a:solidFill>
              </a:rPr>
              <a:t>Guardrails</a:t>
            </a:r>
          </a:p>
          <a:p>
            <a:r>
              <a:rPr lang="en-US" dirty="0">
                <a:solidFill>
                  <a:schemeClr val="tx1"/>
                </a:solidFill>
              </a:rPr>
              <a:t>Prompt-injection detection, emergency medical redirect, validation, structured output, and scoring.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660ED811-055E-2FCC-0826-4885273A668D}"/>
              </a:ext>
            </a:extLst>
          </p:cNvPr>
          <p:cNvSpPr/>
          <p:nvPr/>
        </p:nvSpPr>
        <p:spPr>
          <a:xfrm>
            <a:off x="6508666" y="4477829"/>
            <a:ext cx="3700749" cy="1557575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tx1"/>
                </a:solidFill>
              </a:rPr>
              <a:t>Evaluation harness</a:t>
            </a:r>
          </a:p>
          <a:p>
            <a:r>
              <a:rPr lang="en-US" dirty="0">
                <a:solidFill>
                  <a:schemeClr val="tx1"/>
                </a:solidFill>
              </a:rPr>
              <a:t>Automated tests including 10+ scenario evaluation with pass/fail and confidence summary</a:t>
            </a:r>
          </a:p>
        </p:txBody>
      </p:sp>
    </p:spTree>
    <p:extLst>
      <p:ext uri="{BB962C8B-B14F-4D97-AF65-F5344CB8AC3E}">
        <p14:creationId xmlns:p14="http://schemas.microsoft.com/office/powerpoint/2010/main" val="24914619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79CF0-64F8-84FF-C800-5917A9817F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7131"/>
            <a:ext cx="10515600" cy="824697"/>
          </a:xfrm>
        </p:spPr>
        <p:txBody>
          <a:bodyPr/>
          <a:lstStyle/>
          <a:p>
            <a:r>
              <a:rPr lang="en-US" dirty="0"/>
              <a:t>System Architecture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644077-6ABB-ECE4-5B0C-7519FE7EA7A6}"/>
              </a:ext>
            </a:extLst>
          </p:cNvPr>
          <p:cNvSpPr txBox="1"/>
          <p:nvPr/>
        </p:nvSpPr>
        <p:spPr>
          <a:xfrm>
            <a:off x="838199" y="843666"/>
            <a:ext cx="109718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Data flow: </a:t>
            </a:r>
            <a:r>
              <a:rPr lang="en-US" sz="2400" dirty="0"/>
              <a:t>Input </a:t>
            </a:r>
            <a:r>
              <a:rPr lang="en-US" sz="2400" dirty="0">
                <a:sym typeface="Wingdings" pitchFamily="2" charset="2"/>
              </a:rPr>
              <a:t> guardrails  retrieval/model/tools  structured output</a:t>
            </a:r>
            <a:endParaRPr lang="en-US" sz="2400" b="1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51F303B1-EDD9-E3F9-0815-42C0C6391F4B}"/>
              </a:ext>
            </a:extLst>
          </p:cNvPr>
          <p:cNvSpPr/>
          <p:nvPr/>
        </p:nvSpPr>
        <p:spPr>
          <a:xfrm>
            <a:off x="79017" y="3738051"/>
            <a:ext cx="1443210" cy="627961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Streamlit UI + CLI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72A319CD-7F49-5752-B138-F8105266D83F}"/>
              </a:ext>
            </a:extLst>
          </p:cNvPr>
          <p:cNvSpPr/>
          <p:nvPr/>
        </p:nvSpPr>
        <p:spPr>
          <a:xfrm>
            <a:off x="1213263" y="2556278"/>
            <a:ext cx="2231834" cy="861026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Guardrails validation, injection medical redirect</a:t>
            </a:r>
          </a:p>
        </p:txBody>
      </p: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41638131-264C-BB08-AE10-82420D7381A8}"/>
              </a:ext>
            </a:extLst>
          </p:cNvPr>
          <p:cNvCxnSpPr>
            <a:stCxn id="6" idx="0"/>
            <a:endCxn id="7" idx="1"/>
          </p:cNvCxnSpPr>
          <p:nvPr/>
        </p:nvCxnSpPr>
        <p:spPr>
          <a:xfrm rot="5400000" flipH="1" flipV="1">
            <a:off x="631312" y="3156101"/>
            <a:ext cx="751260" cy="412641"/>
          </a:xfrm>
          <a:prstGeom prst="bentConnector2">
            <a:avLst/>
          </a:prstGeom>
          <a:ln>
            <a:solidFill>
              <a:schemeClr val="tx1"/>
            </a:solidFill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26132706-B5CB-D7FB-4935-32642C4EC38B}"/>
              </a:ext>
            </a:extLst>
          </p:cNvPr>
          <p:cNvSpPr/>
          <p:nvPr/>
        </p:nvSpPr>
        <p:spPr>
          <a:xfrm>
            <a:off x="3536246" y="3615882"/>
            <a:ext cx="1746394" cy="861026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ReAct Agent trace, critique confidence</a:t>
            </a:r>
          </a:p>
        </p:txBody>
      </p: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7A2BD7DF-53B1-AD61-B450-3243AB6AD676}"/>
              </a:ext>
            </a:extLst>
          </p:cNvPr>
          <p:cNvCxnSpPr>
            <a:cxnSpLocks/>
            <a:stCxn id="7" idx="3"/>
            <a:endCxn id="10" idx="0"/>
          </p:cNvCxnSpPr>
          <p:nvPr/>
        </p:nvCxnSpPr>
        <p:spPr>
          <a:xfrm>
            <a:off x="3445097" y="2986791"/>
            <a:ext cx="964346" cy="629091"/>
          </a:xfrm>
          <a:prstGeom prst="bentConnector2">
            <a:avLst/>
          </a:prstGeom>
          <a:ln>
            <a:solidFill>
              <a:schemeClr val="tx1"/>
            </a:solidFill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989EABE-C909-8928-79F8-4D63DDC6D6A9}"/>
              </a:ext>
            </a:extLst>
          </p:cNvPr>
          <p:cNvCxnSpPr>
            <a:stCxn id="10" idx="1"/>
            <a:endCxn id="6" idx="3"/>
          </p:cNvCxnSpPr>
          <p:nvPr/>
        </p:nvCxnSpPr>
        <p:spPr>
          <a:xfrm flipH="1">
            <a:off x="1522227" y="4046395"/>
            <a:ext cx="2014019" cy="5637"/>
          </a:xfrm>
          <a:prstGeom prst="straightConnector1">
            <a:avLst/>
          </a:prstGeom>
          <a:ln>
            <a:solidFill>
              <a:schemeClr val="tx1"/>
            </a:solidFill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939582AC-43FB-215C-D8F1-E86B5DB75044}"/>
              </a:ext>
            </a:extLst>
          </p:cNvPr>
          <p:cNvSpPr/>
          <p:nvPr/>
        </p:nvSpPr>
        <p:spPr>
          <a:xfrm>
            <a:off x="578402" y="5448831"/>
            <a:ext cx="2274183" cy="80605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Tests + Eval Harness 10+ scenarios pass/fail summary</a:t>
            </a:r>
          </a:p>
        </p:txBody>
      </p: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21087735-6954-02C9-91DA-9A84DC8A86F3}"/>
              </a:ext>
            </a:extLst>
          </p:cNvPr>
          <p:cNvCxnSpPr>
            <a:cxnSpLocks/>
          </p:cNvCxnSpPr>
          <p:nvPr/>
        </p:nvCxnSpPr>
        <p:spPr>
          <a:xfrm flipV="1">
            <a:off x="2864552" y="4366012"/>
            <a:ext cx="1556858" cy="1374948"/>
          </a:xfrm>
          <a:prstGeom prst="bentConnector2">
            <a:avLst/>
          </a:prstGeom>
          <a:ln>
            <a:solidFill>
              <a:schemeClr val="tx1"/>
            </a:solidFill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0C5C1AFD-7B30-A89C-853A-9A52443C43E0}"/>
              </a:ext>
            </a:extLst>
          </p:cNvPr>
          <p:cNvSpPr/>
          <p:nvPr/>
        </p:nvSpPr>
        <p:spPr>
          <a:xfrm>
            <a:off x="5858006" y="4491292"/>
            <a:ext cx="2211707" cy="861026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Scheduler Tools add, list, conflicts slots, save/load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BA15AB32-2B72-241A-506D-3D525224A2E8}"/>
              </a:ext>
            </a:extLst>
          </p:cNvPr>
          <p:cNvSpPr/>
          <p:nvPr/>
        </p:nvSpPr>
        <p:spPr>
          <a:xfrm>
            <a:off x="5858005" y="3199540"/>
            <a:ext cx="2211706" cy="861026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Model Selector deterministic, Gemini, Ollama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EA2A3AE3-8F19-7759-A5F8-EC2BC0EF0BB2}"/>
              </a:ext>
            </a:extLst>
          </p:cNvPr>
          <p:cNvSpPr/>
          <p:nvPr/>
        </p:nvSpPr>
        <p:spPr>
          <a:xfrm>
            <a:off x="5858006" y="1890934"/>
            <a:ext cx="2211705" cy="861026"/>
          </a:xfrm>
          <a:prstGeom prst="roundRect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Retriever Selector TF-IDF or Gemini embeddings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88D7C8AD-5BAC-A1C3-B41C-D26AF3822C30}"/>
              </a:ext>
            </a:extLst>
          </p:cNvPr>
          <p:cNvSpPr/>
          <p:nvPr/>
        </p:nvSpPr>
        <p:spPr>
          <a:xfrm>
            <a:off x="9669266" y="5324830"/>
            <a:ext cx="2274183" cy="80605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Tests + Eval Harness 10+ scenarios pass/fail summary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F08315A9-3F60-B02B-EB93-2AC795B8FE1B}"/>
              </a:ext>
            </a:extLst>
          </p:cNvPr>
          <p:cNvSpPr/>
          <p:nvPr/>
        </p:nvSpPr>
        <p:spPr>
          <a:xfrm>
            <a:off x="9700505" y="3860791"/>
            <a:ext cx="2211707" cy="861026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Ollama Local API list models, pull chats/JSON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6A2C59C5-1AB0-FB0D-8E2C-33CAA5759C3A}"/>
              </a:ext>
            </a:extLst>
          </p:cNvPr>
          <p:cNvSpPr/>
          <p:nvPr/>
        </p:nvSpPr>
        <p:spPr>
          <a:xfrm>
            <a:off x="9331890" y="2646262"/>
            <a:ext cx="2580323" cy="861026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Gemini API embeddings, generate structured JSON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65D2CBEE-18A3-8E60-F139-0C12B20B4AB6}"/>
              </a:ext>
            </a:extLst>
          </p:cNvPr>
          <p:cNvSpPr/>
          <p:nvPr/>
        </p:nvSpPr>
        <p:spPr>
          <a:xfrm>
            <a:off x="9331889" y="1431733"/>
            <a:ext cx="2580323" cy="861026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Pet-Care KB feeding, exercise, grooming, warning signs</a:t>
            </a:r>
          </a:p>
        </p:txBody>
      </p:sp>
      <p:cxnSp>
        <p:nvCxnSpPr>
          <p:cNvPr id="39" name="Elbow Connector 38">
            <a:extLst>
              <a:ext uri="{FF2B5EF4-FFF2-40B4-BE49-F238E27FC236}">
                <a16:creationId xmlns:a16="http://schemas.microsoft.com/office/drawing/2014/main" id="{70C49E98-1B7F-2262-4E7A-A3C65E0B0B6A}"/>
              </a:ext>
            </a:extLst>
          </p:cNvPr>
          <p:cNvCxnSpPr>
            <a:cxnSpLocks/>
            <a:endCxn id="23" idx="1"/>
          </p:cNvCxnSpPr>
          <p:nvPr/>
        </p:nvCxnSpPr>
        <p:spPr>
          <a:xfrm flipV="1">
            <a:off x="4588284" y="2321447"/>
            <a:ext cx="1269722" cy="1258345"/>
          </a:xfrm>
          <a:prstGeom prst="bentConnector3">
            <a:avLst>
              <a:gd name="adj1" fmla="val -312"/>
            </a:avLst>
          </a:prstGeom>
          <a:ln>
            <a:solidFill>
              <a:schemeClr val="tx1"/>
            </a:solidFill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Elbow Connector 45">
            <a:extLst>
              <a:ext uri="{FF2B5EF4-FFF2-40B4-BE49-F238E27FC236}">
                <a16:creationId xmlns:a16="http://schemas.microsoft.com/office/drawing/2014/main" id="{0161A86B-276B-0B1A-FE27-DD36905940AB}"/>
              </a:ext>
            </a:extLst>
          </p:cNvPr>
          <p:cNvCxnSpPr>
            <a:cxnSpLocks/>
            <a:stCxn id="23" idx="0"/>
          </p:cNvCxnSpPr>
          <p:nvPr/>
        </p:nvCxnSpPr>
        <p:spPr>
          <a:xfrm rot="5400000" flipH="1" flipV="1">
            <a:off x="8026216" y="585261"/>
            <a:ext cx="243316" cy="2368030"/>
          </a:xfrm>
          <a:prstGeom prst="bentConnector2">
            <a:avLst/>
          </a:prstGeom>
          <a:ln>
            <a:solidFill>
              <a:schemeClr val="tx1"/>
            </a:solidFill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>
            <a:extLst>
              <a:ext uri="{FF2B5EF4-FFF2-40B4-BE49-F238E27FC236}">
                <a16:creationId xmlns:a16="http://schemas.microsoft.com/office/drawing/2014/main" id="{212B3242-C515-4C38-BC7D-90DCB6F69712}"/>
              </a:ext>
            </a:extLst>
          </p:cNvPr>
          <p:cNvCxnSpPr>
            <a:cxnSpLocks/>
            <a:stCxn id="23" idx="3"/>
          </p:cNvCxnSpPr>
          <p:nvPr/>
        </p:nvCxnSpPr>
        <p:spPr>
          <a:xfrm>
            <a:off x="8069711" y="2321447"/>
            <a:ext cx="1262178" cy="629172"/>
          </a:xfrm>
          <a:prstGeom prst="bentConnector3">
            <a:avLst>
              <a:gd name="adj1" fmla="val 20228"/>
            </a:avLst>
          </a:prstGeom>
          <a:ln>
            <a:solidFill>
              <a:schemeClr val="tx1"/>
            </a:solidFill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Elbow Connector 52">
            <a:extLst>
              <a:ext uri="{FF2B5EF4-FFF2-40B4-BE49-F238E27FC236}">
                <a16:creationId xmlns:a16="http://schemas.microsoft.com/office/drawing/2014/main" id="{9D7354F5-C581-55A8-928B-06BF1A4CABBE}"/>
              </a:ext>
            </a:extLst>
          </p:cNvPr>
          <p:cNvCxnSpPr>
            <a:cxnSpLocks/>
            <a:endCxn id="36" idx="1"/>
          </p:cNvCxnSpPr>
          <p:nvPr/>
        </p:nvCxnSpPr>
        <p:spPr>
          <a:xfrm flipV="1">
            <a:off x="8069710" y="3076775"/>
            <a:ext cx="1262180" cy="276173"/>
          </a:xfrm>
          <a:prstGeom prst="bentConnector3">
            <a:avLst>
              <a:gd name="adj1" fmla="val 20228"/>
            </a:avLst>
          </a:prstGeom>
          <a:ln>
            <a:solidFill>
              <a:schemeClr val="tx1"/>
            </a:solidFill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Elbow Connector 57">
            <a:extLst>
              <a:ext uri="{FF2B5EF4-FFF2-40B4-BE49-F238E27FC236}">
                <a16:creationId xmlns:a16="http://schemas.microsoft.com/office/drawing/2014/main" id="{4275CFEC-AC57-8320-CE90-302343DA6963}"/>
              </a:ext>
            </a:extLst>
          </p:cNvPr>
          <p:cNvCxnSpPr>
            <a:stCxn id="22" idx="3"/>
            <a:endCxn id="25" idx="1"/>
          </p:cNvCxnSpPr>
          <p:nvPr/>
        </p:nvCxnSpPr>
        <p:spPr>
          <a:xfrm>
            <a:off x="8069711" y="3630053"/>
            <a:ext cx="1630794" cy="661251"/>
          </a:xfrm>
          <a:prstGeom prst="bentConnector3">
            <a:avLst>
              <a:gd name="adj1" fmla="val 20812"/>
            </a:avLst>
          </a:prstGeom>
          <a:ln>
            <a:solidFill>
              <a:schemeClr val="tx1"/>
            </a:solidFill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Elbow Connector 61">
            <a:extLst>
              <a:ext uri="{FF2B5EF4-FFF2-40B4-BE49-F238E27FC236}">
                <a16:creationId xmlns:a16="http://schemas.microsoft.com/office/drawing/2014/main" id="{CB94CCC3-ECB9-E598-CC43-A42CDC76EAE6}"/>
              </a:ext>
            </a:extLst>
          </p:cNvPr>
          <p:cNvCxnSpPr>
            <a:stCxn id="21" idx="3"/>
            <a:endCxn id="24" idx="0"/>
          </p:cNvCxnSpPr>
          <p:nvPr/>
        </p:nvCxnSpPr>
        <p:spPr>
          <a:xfrm>
            <a:off x="8069713" y="4921805"/>
            <a:ext cx="2736645" cy="403025"/>
          </a:xfrm>
          <a:prstGeom prst="bentConnector2">
            <a:avLst/>
          </a:prstGeom>
          <a:ln>
            <a:solidFill>
              <a:schemeClr val="tx1"/>
            </a:solidFill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Elbow Connector 63">
            <a:extLst>
              <a:ext uri="{FF2B5EF4-FFF2-40B4-BE49-F238E27FC236}">
                <a16:creationId xmlns:a16="http://schemas.microsoft.com/office/drawing/2014/main" id="{65DB3E03-7B42-B9B8-A50E-E5BA8B1A50FB}"/>
              </a:ext>
            </a:extLst>
          </p:cNvPr>
          <p:cNvCxnSpPr>
            <a:cxnSpLocks/>
            <a:endCxn id="22" idx="1"/>
          </p:cNvCxnSpPr>
          <p:nvPr/>
        </p:nvCxnSpPr>
        <p:spPr>
          <a:xfrm flipV="1">
            <a:off x="5313878" y="3630053"/>
            <a:ext cx="544127" cy="203808"/>
          </a:xfrm>
          <a:prstGeom prst="bentConnector3">
            <a:avLst/>
          </a:prstGeom>
          <a:ln>
            <a:solidFill>
              <a:schemeClr val="tx1"/>
            </a:solidFill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Elbow Connector 65">
            <a:extLst>
              <a:ext uri="{FF2B5EF4-FFF2-40B4-BE49-F238E27FC236}">
                <a16:creationId xmlns:a16="http://schemas.microsoft.com/office/drawing/2014/main" id="{57A9B777-A0ED-A09A-C74F-91E3FDA04C13}"/>
              </a:ext>
            </a:extLst>
          </p:cNvPr>
          <p:cNvCxnSpPr>
            <a:cxnSpLocks/>
            <a:stCxn id="10" idx="3"/>
            <a:endCxn id="21" idx="1"/>
          </p:cNvCxnSpPr>
          <p:nvPr/>
        </p:nvCxnSpPr>
        <p:spPr>
          <a:xfrm>
            <a:off x="5282640" y="4046395"/>
            <a:ext cx="575366" cy="87541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Elbow Connector 67">
            <a:extLst>
              <a:ext uri="{FF2B5EF4-FFF2-40B4-BE49-F238E27FC236}">
                <a16:creationId xmlns:a16="http://schemas.microsoft.com/office/drawing/2014/main" id="{002F70EA-6E69-8157-6D39-B3322F834CEE}"/>
              </a:ext>
            </a:extLst>
          </p:cNvPr>
          <p:cNvCxnSpPr>
            <a:cxnSpLocks/>
            <a:stCxn id="24" idx="1"/>
          </p:cNvCxnSpPr>
          <p:nvPr/>
        </p:nvCxnSpPr>
        <p:spPr>
          <a:xfrm rot="10800000">
            <a:off x="4748834" y="4500451"/>
            <a:ext cx="4920432" cy="1227404"/>
          </a:xfrm>
          <a:prstGeom prst="bentConnector3">
            <a:avLst>
              <a:gd name="adj1" fmla="val 99896"/>
            </a:avLst>
          </a:prstGeom>
          <a:ln>
            <a:solidFill>
              <a:schemeClr val="tx1"/>
            </a:solidFill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D709E9D9-E206-BB36-FE5D-D791C80FECC9}"/>
              </a:ext>
            </a:extLst>
          </p:cNvPr>
          <p:cNvCxnSpPr>
            <a:cxnSpLocks/>
          </p:cNvCxnSpPr>
          <p:nvPr/>
        </p:nvCxnSpPr>
        <p:spPr>
          <a:xfrm>
            <a:off x="2852585" y="6012494"/>
            <a:ext cx="6816681" cy="0"/>
          </a:xfrm>
          <a:prstGeom prst="straightConnector1">
            <a:avLst/>
          </a:prstGeom>
          <a:ln>
            <a:solidFill>
              <a:schemeClr val="tx1"/>
            </a:solidFill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56EC66FA-9BF9-7EDD-EE79-0953BFC8E609}"/>
              </a:ext>
            </a:extLst>
          </p:cNvPr>
          <p:cNvSpPr txBox="1"/>
          <p:nvPr/>
        </p:nvSpPr>
        <p:spPr>
          <a:xfrm>
            <a:off x="114440" y="2765453"/>
            <a:ext cx="927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Input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5F6D41C-B166-31D3-C69E-5B07089152AC}"/>
              </a:ext>
            </a:extLst>
          </p:cNvPr>
          <p:cNvSpPr txBox="1"/>
          <p:nvPr/>
        </p:nvSpPr>
        <p:spPr>
          <a:xfrm>
            <a:off x="3351439" y="2316917"/>
            <a:ext cx="11094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Safe request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630E5FE-FA15-D8A7-7328-9B7F9FC7308A}"/>
              </a:ext>
            </a:extLst>
          </p:cNvPr>
          <p:cNvSpPr txBox="1"/>
          <p:nvPr/>
        </p:nvSpPr>
        <p:spPr>
          <a:xfrm>
            <a:off x="1564575" y="4058822"/>
            <a:ext cx="19716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Answer + trace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302DF91-EF87-351C-D37F-66AFF281423A}"/>
              </a:ext>
            </a:extLst>
          </p:cNvPr>
          <p:cNvSpPr txBox="1"/>
          <p:nvPr/>
        </p:nvSpPr>
        <p:spPr>
          <a:xfrm>
            <a:off x="3021132" y="5347781"/>
            <a:ext cx="12373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scenarios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C2F8760-DE83-D83F-0806-819B5C35CC74}"/>
              </a:ext>
            </a:extLst>
          </p:cNvPr>
          <p:cNvSpPr txBox="1"/>
          <p:nvPr/>
        </p:nvSpPr>
        <p:spPr>
          <a:xfrm>
            <a:off x="5126768" y="5983075"/>
            <a:ext cx="12373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Unit tests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C3816FA-8A56-DB2F-4495-DC240C1C3A1A}"/>
              </a:ext>
            </a:extLst>
          </p:cNvPr>
          <p:cNvSpPr txBox="1"/>
          <p:nvPr/>
        </p:nvSpPr>
        <p:spPr>
          <a:xfrm>
            <a:off x="5971380" y="5411486"/>
            <a:ext cx="2003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Schedule context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09777DE-CD63-303B-BF57-0985F4C44C12}"/>
              </a:ext>
            </a:extLst>
          </p:cNvPr>
          <p:cNvSpPr txBox="1"/>
          <p:nvPr/>
        </p:nvSpPr>
        <p:spPr>
          <a:xfrm>
            <a:off x="8148741" y="4601372"/>
            <a:ext cx="12373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actions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2B29144-AD21-8F34-48D1-CBAC7ED9E79C}"/>
              </a:ext>
            </a:extLst>
          </p:cNvPr>
          <p:cNvSpPr txBox="1"/>
          <p:nvPr/>
        </p:nvSpPr>
        <p:spPr>
          <a:xfrm>
            <a:off x="8232116" y="3877914"/>
            <a:ext cx="1499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Local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ACF1223-57E9-AC4D-B38E-DCFE0B3549A0}"/>
              </a:ext>
            </a:extLst>
          </p:cNvPr>
          <p:cNvSpPr txBox="1"/>
          <p:nvPr/>
        </p:nvSpPr>
        <p:spPr>
          <a:xfrm>
            <a:off x="8135294" y="3067494"/>
            <a:ext cx="1499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Cloud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AAED9C47-C317-1C8A-43D2-2F51DA155005}"/>
              </a:ext>
            </a:extLst>
          </p:cNvPr>
          <p:cNvSpPr txBox="1"/>
          <p:nvPr/>
        </p:nvSpPr>
        <p:spPr>
          <a:xfrm>
            <a:off x="8086391" y="2327529"/>
            <a:ext cx="14996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Semantic Search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BA9BBC5-06A4-3704-A906-1AF9FB0A1367}"/>
              </a:ext>
            </a:extLst>
          </p:cNvPr>
          <p:cNvSpPr txBox="1"/>
          <p:nvPr/>
        </p:nvSpPr>
        <p:spPr>
          <a:xfrm>
            <a:off x="7574911" y="1302598"/>
            <a:ext cx="1499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Local docs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B9422A8B-0A64-B0AA-F926-9B0CF2677EBB}"/>
              </a:ext>
            </a:extLst>
          </p:cNvPr>
          <p:cNvSpPr txBox="1"/>
          <p:nvPr/>
        </p:nvSpPr>
        <p:spPr>
          <a:xfrm>
            <a:off x="4639728" y="1957965"/>
            <a:ext cx="1236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retrieve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AECA803-21A6-54B6-491A-5F5749994A22}"/>
              </a:ext>
            </a:extLst>
          </p:cNvPr>
          <p:cNvSpPr txBox="1"/>
          <p:nvPr/>
        </p:nvSpPr>
        <p:spPr>
          <a:xfrm>
            <a:off x="4621149" y="2961875"/>
            <a:ext cx="1236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Select backend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DF5AC069-A0C2-A744-2C31-20CA4050A364}"/>
              </a:ext>
            </a:extLst>
          </p:cNvPr>
          <p:cNvSpPr txBox="1"/>
          <p:nvPr/>
        </p:nvSpPr>
        <p:spPr>
          <a:xfrm>
            <a:off x="5477573" y="4101535"/>
            <a:ext cx="1236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Root calls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077A5DFA-941C-0205-215C-2FAB3E81C86F}"/>
              </a:ext>
            </a:extLst>
          </p:cNvPr>
          <p:cNvSpPr txBox="1"/>
          <p:nvPr/>
        </p:nvSpPr>
        <p:spPr>
          <a:xfrm>
            <a:off x="0" y="6367190"/>
            <a:ext cx="121920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Key idea: </a:t>
            </a:r>
            <a:r>
              <a:rPr lang="en-US" sz="1600" dirty="0"/>
              <a:t>The assistant uses the same scheduler backend as the UI, so the AI feature is integrated into the real application workflow.</a:t>
            </a:r>
          </a:p>
        </p:txBody>
      </p:sp>
    </p:spTree>
    <p:extLst>
      <p:ext uri="{BB962C8B-B14F-4D97-AF65-F5344CB8AC3E}">
        <p14:creationId xmlns:p14="http://schemas.microsoft.com/office/powerpoint/2010/main" val="10072427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88430-D4AD-BEC4-B614-5F18806A93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91646"/>
          </a:xfrm>
        </p:spPr>
        <p:txBody>
          <a:bodyPr/>
          <a:lstStyle/>
          <a:p>
            <a:r>
              <a:rPr lang="en-US" dirty="0"/>
              <a:t>Demo Plan: Three Inputs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928B0E-931C-E27B-9424-C24F07C7626C}"/>
              </a:ext>
            </a:extLst>
          </p:cNvPr>
          <p:cNvSpPr txBox="1"/>
          <p:nvPr/>
        </p:nvSpPr>
        <p:spPr>
          <a:xfrm>
            <a:off x="838200" y="1156772"/>
            <a:ext cx="109718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The video/class demo uses separate inputs to prove different rubric requirements.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BA4A58E-EDD3-A7E3-2557-584F8A1982BC}"/>
              </a:ext>
            </a:extLst>
          </p:cNvPr>
          <p:cNvSpPr/>
          <p:nvPr/>
        </p:nvSpPr>
        <p:spPr>
          <a:xfrm>
            <a:off x="838200" y="1849265"/>
            <a:ext cx="10971881" cy="1081221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tx1"/>
                </a:solidFill>
              </a:rPr>
              <a:t>AI-assisted scheduling</a:t>
            </a:r>
          </a:p>
          <a:p>
            <a:r>
              <a:rPr lang="en-US" dirty="0">
                <a:solidFill>
                  <a:schemeClr val="tx1"/>
                </a:solidFill>
              </a:rPr>
              <a:t>“Schedule a 20-minute play session for Miso every day at 6:30 PM”</a:t>
            </a:r>
          </a:p>
          <a:p>
            <a:r>
              <a:rPr lang="en-US" dirty="0">
                <a:solidFill>
                  <a:schemeClr val="tx1"/>
                </a:solidFill>
              </a:rPr>
              <a:t>Shows natural-language </a:t>
            </a:r>
            <a:r>
              <a:rPr lang="en-US" dirty="0">
                <a:solidFill>
                  <a:schemeClr val="tx1"/>
                </a:solidFill>
                <a:sym typeface="Wingdings" pitchFamily="2" charset="2"/>
              </a:rPr>
              <a:t> structured task  scheduler update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D000889-0844-928C-F222-663CDBAD5576}"/>
              </a:ext>
            </a:extLst>
          </p:cNvPr>
          <p:cNvSpPr/>
          <p:nvPr/>
        </p:nvSpPr>
        <p:spPr>
          <a:xfrm>
            <a:off x="838200" y="3329847"/>
            <a:ext cx="10971881" cy="108122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tx1"/>
                </a:solidFill>
              </a:rPr>
              <a:t>Grounded scheduling reasoning</a:t>
            </a:r>
          </a:p>
          <a:p>
            <a:r>
              <a:rPr lang="en-US" dirty="0">
                <a:solidFill>
                  <a:schemeClr val="tx1"/>
                </a:solidFill>
              </a:rPr>
              <a:t>“What should I focus on today for Nova?”</a:t>
            </a:r>
          </a:p>
          <a:p>
            <a:r>
              <a:rPr lang="en-US" dirty="0">
                <a:solidFill>
                  <a:schemeClr val="tx1"/>
                </a:solidFill>
              </a:rPr>
              <a:t>Shows retrieval over live schedule context and a schedule-aware response.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644B144-051E-A146-0941-641BCBEFB759}"/>
              </a:ext>
            </a:extLst>
          </p:cNvPr>
          <p:cNvSpPr/>
          <p:nvPr/>
        </p:nvSpPr>
        <p:spPr>
          <a:xfrm>
            <a:off x="838200" y="4810429"/>
            <a:ext cx="10971881" cy="1081221"/>
          </a:xfrm>
          <a:prstGeom prst="roundRect">
            <a:avLst/>
          </a:prstGeom>
          <a:solidFill>
            <a:srgbClr val="EEB5AE"/>
          </a:solidFill>
          <a:ln>
            <a:solidFill>
              <a:srgbClr val="EEB5A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tx1"/>
                </a:solidFill>
              </a:rPr>
              <a:t>Medical safety guardrail</a:t>
            </a:r>
          </a:p>
          <a:p>
            <a:r>
              <a:rPr lang="en-US" dirty="0">
                <a:solidFill>
                  <a:schemeClr val="tx1"/>
                </a:solidFill>
              </a:rPr>
              <a:t>“Miso is hiding, not eating, and having trouble breathing. What should I do?”</a:t>
            </a:r>
          </a:p>
          <a:p>
            <a:r>
              <a:rPr lang="en-US" dirty="0">
                <a:solidFill>
                  <a:schemeClr val="tx1"/>
                </a:solidFill>
              </a:rPr>
              <a:t>Shows emergency redirect instead of unsafe medical advice.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581695-B3B4-F90A-27E9-9844F9400140}"/>
              </a:ext>
            </a:extLst>
          </p:cNvPr>
          <p:cNvSpPr txBox="1"/>
          <p:nvPr/>
        </p:nvSpPr>
        <p:spPr>
          <a:xfrm>
            <a:off x="512742" y="6159331"/>
            <a:ext cx="116227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Demo proves end-to-end execution, AI behavior, reliability behavior, clear outputs</a:t>
            </a:r>
          </a:p>
        </p:txBody>
      </p:sp>
    </p:spTree>
    <p:extLst>
      <p:ext uri="{BB962C8B-B14F-4D97-AF65-F5344CB8AC3E}">
        <p14:creationId xmlns:p14="http://schemas.microsoft.com/office/powerpoint/2010/main" val="15784941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35BB1-3763-8CFF-20B0-66B050BAAB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3511"/>
          </a:xfrm>
        </p:spPr>
        <p:txBody>
          <a:bodyPr/>
          <a:lstStyle/>
          <a:p>
            <a:r>
              <a:rPr lang="en-US" dirty="0"/>
              <a:t>Reliability and Evaluation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1D94635-2EA6-B82C-AAA5-0FEC720C338D}"/>
              </a:ext>
            </a:extLst>
          </p:cNvPr>
          <p:cNvSpPr txBox="1"/>
          <p:nvPr/>
        </p:nvSpPr>
        <p:spPr>
          <a:xfrm>
            <a:off x="838200" y="1156772"/>
            <a:ext cx="109718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The project proves behavior through tests, guardrails, and visible failure handling.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C18180C-F7C5-9C9E-8E38-79453F536D9F}"/>
              </a:ext>
            </a:extLst>
          </p:cNvPr>
          <p:cNvSpPr/>
          <p:nvPr/>
        </p:nvSpPr>
        <p:spPr>
          <a:xfrm>
            <a:off x="177187" y="1871425"/>
            <a:ext cx="3700749" cy="1557575"/>
          </a:xfrm>
          <a:prstGeom prst="roundRect">
            <a:avLst/>
          </a:prstGeom>
          <a:solidFill>
            <a:srgbClr val="EEB5AE"/>
          </a:solidFill>
          <a:ln>
            <a:solidFill>
              <a:srgbClr val="EEB5A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tx1"/>
                </a:solidFill>
              </a:rPr>
              <a:t>Guardrails</a:t>
            </a:r>
          </a:p>
          <a:p>
            <a:r>
              <a:rPr lang="en-US" dirty="0">
                <a:solidFill>
                  <a:schemeClr val="tx1"/>
                </a:solidFill>
              </a:rPr>
              <a:t>Prompt-injection checks, medical emergency redirect, input + task validation, iteration cap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6129B2B-4525-7FDF-6A41-DA0375704D02}"/>
              </a:ext>
            </a:extLst>
          </p:cNvPr>
          <p:cNvSpPr/>
          <p:nvPr/>
        </p:nvSpPr>
        <p:spPr>
          <a:xfrm>
            <a:off x="4268117" y="1871424"/>
            <a:ext cx="3700749" cy="155757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tx1"/>
                </a:solidFill>
              </a:rPr>
              <a:t>Structured behavior</a:t>
            </a:r>
          </a:p>
          <a:p>
            <a:r>
              <a:rPr lang="en-US" dirty="0">
                <a:solidFill>
                  <a:schemeClr val="tx1"/>
                </a:solidFill>
              </a:rPr>
              <a:t>JSON task proposals, confidence score, self-critique, observable trace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F96A4F33-39BB-AAC1-1B74-D7092E83F9A1}"/>
              </a:ext>
            </a:extLst>
          </p:cNvPr>
          <p:cNvSpPr/>
          <p:nvPr/>
        </p:nvSpPr>
        <p:spPr>
          <a:xfrm>
            <a:off x="8359047" y="1871424"/>
            <a:ext cx="3700749" cy="1557575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tx1"/>
                </a:solidFill>
              </a:rPr>
              <a:t>Testing</a:t>
            </a:r>
          </a:p>
          <a:p>
            <a:r>
              <a:rPr lang="en-US" dirty="0">
                <a:solidFill>
                  <a:schemeClr val="tx1"/>
                </a:solidFill>
              </a:rPr>
              <a:t>pytest, evaluation harness, 10+ scenarios, pass/fail summary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344325B9-FBFD-567B-4EFC-3B55F202B7DB}"/>
              </a:ext>
            </a:extLst>
          </p:cNvPr>
          <p:cNvSpPr/>
          <p:nvPr/>
        </p:nvSpPr>
        <p:spPr>
          <a:xfrm>
            <a:off x="302044" y="4231788"/>
            <a:ext cx="11632894" cy="1164123"/>
          </a:xfrm>
          <a:prstGeom prst="round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rgbClr val="FF0000"/>
                </a:solidFill>
              </a:rPr>
              <a:t>Example guardrail output</a:t>
            </a:r>
          </a:p>
          <a:p>
            <a:r>
              <a:rPr lang="en-US" i="1" dirty="0">
                <a:solidFill>
                  <a:schemeClr val="tx1"/>
                </a:solidFill>
              </a:rPr>
              <a:t>”This may be an emergency. Please contact a veterinarian or emergency clinic immediately. I can help organize follow-up tasks, but I should not diagnose or prescribe treatment.”</a:t>
            </a:r>
          </a:p>
        </p:txBody>
      </p:sp>
    </p:spTree>
    <p:extLst>
      <p:ext uri="{BB962C8B-B14F-4D97-AF65-F5344CB8AC3E}">
        <p14:creationId xmlns:p14="http://schemas.microsoft.com/office/powerpoint/2010/main" val="23609085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2B104-7D69-E344-12D4-09F15C26B2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57747"/>
          </a:xfrm>
        </p:spPr>
        <p:txBody>
          <a:bodyPr/>
          <a:lstStyle/>
          <a:p>
            <a:r>
              <a:rPr lang="en-US" dirty="0"/>
              <a:t>Reflection: What I learned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68D942-45C1-10C5-DBC9-85C661E1857A}"/>
              </a:ext>
            </a:extLst>
          </p:cNvPr>
          <p:cNvSpPr txBox="1"/>
          <p:nvPr/>
        </p:nvSpPr>
        <p:spPr>
          <a:xfrm>
            <a:off x="838200" y="1156772"/>
            <a:ext cx="109718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AI engineering is product design + software architecture + evaluation.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595EE4B-9DE9-12BD-1387-380354DB37BB}"/>
              </a:ext>
            </a:extLst>
          </p:cNvPr>
          <p:cNvSpPr/>
          <p:nvPr/>
        </p:nvSpPr>
        <p:spPr>
          <a:xfrm>
            <a:off x="838200" y="1849266"/>
            <a:ext cx="10971881" cy="706648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tx1"/>
                </a:solidFill>
              </a:rPr>
              <a:t>AI needs system integration</a:t>
            </a:r>
          </a:p>
          <a:p>
            <a:r>
              <a:rPr lang="en-US" dirty="0">
                <a:solidFill>
                  <a:schemeClr val="tx1"/>
                </a:solidFill>
              </a:rPr>
              <a:t>The value comes from combining retrieval, tools, UI, storage, and evaluation.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CADC0F8-83FF-A346-1320-CDAEAE9E07C6}"/>
              </a:ext>
            </a:extLst>
          </p:cNvPr>
          <p:cNvSpPr/>
          <p:nvPr/>
        </p:nvSpPr>
        <p:spPr>
          <a:xfrm>
            <a:off x="838199" y="2976524"/>
            <a:ext cx="10971881" cy="706648"/>
          </a:xfrm>
          <a:prstGeom prst="roundRect">
            <a:avLst/>
          </a:prstGeom>
          <a:solidFill>
            <a:srgbClr val="EEB5AE"/>
          </a:solidFill>
          <a:ln>
            <a:solidFill>
              <a:srgbClr val="EEB5A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tx1"/>
                </a:solidFill>
              </a:rPr>
              <a:t>Reliability is a feature</a:t>
            </a:r>
          </a:p>
          <a:p>
            <a:r>
              <a:rPr lang="en-US" dirty="0">
                <a:solidFill>
                  <a:schemeClr val="tx1"/>
                </a:solidFill>
              </a:rPr>
              <a:t>Guardrails, validation, and tests matter as much as generating an answer.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AC1B126-9764-326F-8F1D-E2716C014505}"/>
              </a:ext>
            </a:extLst>
          </p:cNvPr>
          <p:cNvSpPr/>
          <p:nvPr/>
        </p:nvSpPr>
        <p:spPr>
          <a:xfrm>
            <a:off x="838198" y="4103782"/>
            <a:ext cx="10971881" cy="706648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tx1"/>
                </a:solidFill>
              </a:rPr>
              <a:t>Model flexibility matters</a:t>
            </a:r>
          </a:p>
          <a:p>
            <a:r>
              <a:rPr lang="en-US" dirty="0">
                <a:solidFill>
                  <a:schemeClr val="tx1"/>
                </a:solidFill>
              </a:rPr>
              <a:t>TF-IDF, Gemini, and Ollama show different privacy, cost latency, and deployment tradeoffs.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7D4938-977A-6EF6-F1C3-079951A7187A}"/>
              </a:ext>
            </a:extLst>
          </p:cNvPr>
          <p:cNvSpPr txBox="1"/>
          <p:nvPr/>
        </p:nvSpPr>
        <p:spPr>
          <a:xfrm>
            <a:off x="512740" y="5285729"/>
            <a:ext cx="1162279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Takeaway</a:t>
            </a:r>
          </a:p>
          <a:p>
            <a:r>
              <a:rPr lang="en-US" sz="2400" dirty="0"/>
              <a:t>I can take a traditional application and redesign it into a production-minded AI system with retrieval, agent workflows, guardrails, model choice, and evaluation.</a:t>
            </a:r>
          </a:p>
        </p:txBody>
      </p:sp>
    </p:spTree>
    <p:extLst>
      <p:ext uri="{BB962C8B-B14F-4D97-AF65-F5344CB8AC3E}">
        <p14:creationId xmlns:p14="http://schemas.microsoft.com/office/powerpoint/2010/main" val="21088555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</TotalTime>
  <Words>727</Words>
  <Application>Microsoft Macintosh PowerPoint</Application>
  <PresentationFormat>Widescreen</PresentationFormat>
  <Paragraphs>92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Wingdings</vt:lpstr>
      <vt:lpstr>Office Theme</vt:lpstr>
      <vt:lpstr>PawPal+ AI Assistant Extending A Pet Care Scheduler into an AI-Powered System</vt:lpstr>
      <vt:lpstr>PawPal+ Scheduler</vt:lpstr>
      <vt:lpstr>What I Added</vt:lpstr>
      <vt:lpstr>System Architecture</vt:lpstr>
      <vt:lpstr>Demo Plan: Three Inputs</vt:lpstr>
      <vt:lpstr>Reliability and Evaluation</vt:lpstr>
      <vt:lpstr>Reflection: What I learned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Jimmy Dani</dc:creator>
  <cp:lastModifiedBy>Jimmy Dani</cp:lastModifiedBy>
  <cp:revision>90</cp:revision>
  <dcterms:created xsi:type="dcterms:W3CDTF">2026-04-25T18:18:57Z</dcterms:created>
  <dcterms:modified xsi:type="dcterms:W3CDTF">2026-04-27T00:20:59Z</dcterms:modified>
</cp:coreProperties>
</file>